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000" b="1">
                <a:solidFill>
                  <a:srgbClr val="164D7A"/>
                </a:solidFill>
                <a:latin typeface="Aptos"/>
              </a:rPr>
              <a:t>PRO-WISE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34440"/>
            <a:ext cx="97840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1C2632"/>
                </a:solidFill>
                <a:latin typeface="Aptos"/>
              </a:rPr>
              <a:t>QR-Based Product Assistance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057400"/>
            <a:ext cx="95097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0">
                <a:solidFill>
                  <a:srgbClr val="5D6C7C"/>
                </a:solidFill>
                <a:latin typeface="Aptos"/>
              </a:rPr>
              <a:t>Graduation Project Defense - Bachelor's Degree in Computer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971800"/>
            <a:ext cx="4526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2971800"/>
            <a:ext cx="73152" cy="914400"/>
          </a:xfrm>
          <a:prstGeom prst="rect">
            <a:avLst/>
          </a:prstGeom>
          <a:solidFill>
            <a:srgbClr val="16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3118104"/>
            <a:ext cx="4206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3566160"/>
            <a:ext cx="4206240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Ahmed Abderrahmen Jatlaoui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971800"/>
            <a:ext cx="4526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2971800"/>
            <a:ext cx="73152" cy="914400"/>
          </a:xfrm>
          <a:prstGeom prst="rect">
            <a:avLst/>
          </a:prstGeom>
          <a:solidFill>
            <a:srgbClr val="16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3118104"/>
            <a:ext cx="4206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Academic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3566160"/>
            <a:ext cx="4206240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2025 /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80"/>
            <a:ext cx="97840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5D6C7C"/>
                </a:solidFill>
                <a:latin typeface="Aptos"/>
              </a:rPr>
              <a:t>Supervised by Mr. Abdelweheb Gueddess and Mr. Mohamed Ben Ameur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74920"/>
            <a:ext cx="97840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1C2632"/>
                </a:solidFill>
                <a:latin typeface="Aptos"/>
              </a:rPr>
              <a:t>Host Company: Accelerant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INTRODUCTION &amp; INDUSTRIAL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Presentation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868680"/>
          </a:xfrm>
          <a:prstGeom prst="rect">
            <a:avLst/>
          </a:prstGeom>
          <a:solidFill>
            <a:srgbClr val="16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4800600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Introduction &amp; Industrial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00200"/>
            <a:ext cx="5120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600200"/>
            <a:ext cx="73152" cy="868680"/>
          </a:xfrm>
          <a:prstGeom prst="rect">
            <a:avLst/>
          </a:prstGeom>
          <a:solidFill>
            <a:srgbClr val="16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1746504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2194560"/>
            <a:ext cx="4800600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Problem &amp; Proposed 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120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73152" cy="868680"/>
          </a:xfrm>
          <a:prstGeom prst="rect">
            <a:avLst/>
          </a:prstGeom>
          <a:solidFill>
            <a:srgbClr val="429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072384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20440"/>
            <a:ext cx="4800600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Project Objectives &amp; Requirements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926080"/>
            <a:ext cx="5120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926080"/>
            <a:ext cx="73152" cy="868680"/>
          </a:xfrm>
          <a:prstGeom prst="rect">
            <a:avLst/>
          </a:prstGeom>
          <a:solidFill>
            <a:srgbClr val="E8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3072384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3520440"/>
            <a:ext cx="4800600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Agile Sprints &amp; Conception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51960"/>
            <a:ext cx="5120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51960"/>
            <a:ext cx="73152" cy="868680"/>
          </a:xfrm>
          <a:prstGeom prst="rect">
            <a:avLst/>
          </a:prstGeom>
          <a:solidFill>
            <a:srgbClr val="16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398264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4800600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Technical Realization &amp; Prototype Demo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251960"/>
            <a:ext cx="5120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251960"/>
            <a:ext cx="73152" cy="868680"/>
          </a:xfrm>
          <a:prstGeom prst="rect">
            <a:avLst/>
          </a:prstGeom>
          <a:solidFill>
            <a:srgbClr val="16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7" y="4398264"/>
            <a:ext cx="4800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2632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4846320"/>
            <a:ext cx="4800600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D6C7C"/>
                </a:solidFill>
                <a:latin typeface="Aptos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INTRODUCTION &amp; INDUSTRIAL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General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Paper manuals are lost, outdated, or difficult to search.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Support teams repeatedly handle simple diagnostic questions.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QR routing connects the physical product to the right digital support space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INTRODUCTION &amp; INDUSTRIAL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Industrial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Manufacturers need scalable after-sales support.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Customers expect immediate self-service assistance.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Brands need centralized control over product manuals, media, feedback, and maintenance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Support content is scattered across PDFs, videos, and portals.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Traditional portals do not know the exact product model.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Simple issues often become costly support calls or field visits.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Unique QR code per product.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Web and mobile dashboards with product-specific guides.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AI-assisted troubleshooting, semantic search, recommendations, and technician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PROJECT OBJECTIVES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Digitize product assistance and reduce dependence on paper manuals.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Provide secure multi-tenant access for brands and administrators.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Deliver product search, guide management, feedback, notifications, and maintenance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PROJECT OBJECTIVES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Functional: authentication, products, guides, QR, feedback, AI search, technician requests.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Non-functional: security, reliability, performance, usability, scalability.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Actors: visitor, user, technician, company admin, super admin.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AGILE SPRINTS &amp; CONCEPTION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Agile Scrum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The project was divided into five releases.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Each sprint focused on a coherent functional module.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UML diagrams and UI validation were used to stabilize the conception before implementation.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AGILE SPRINTS &amp; CONCEPTION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Product Backlog &amp; Sprint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Sprint 1: authentication and user management.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Sprint 2: catalog, guides, QR, and content approval.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Sprint 3: feedback, notifications, analytics, and monitoring.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Sprint 4: AI, RAG, semantic search, and recommendations.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Sprint 5: maintenance requests and technician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AGILE SPRINTS &amp; CONCEPTION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Global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44200" cy="4526280"/>
          </a:xfrm>
          <a:prstGeom prst="roundRect">
            <a:avLst/>
          </a:prstGeom>
          <a:solidFill>
            <a:srgbClr val="F6FAFC"/>
          </a:solidFill>
          <a:ln>
            <a:solidFill>
              <a:srgbClr val="B4CD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70732"/>
            <a:ext cx="104698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64D7A"/>
                </a:solidFill>
                <a:latin typeface="Aptos"/>
              </a:rPr>
              <a:t>Insert prepared conception diagram / sprint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102412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Use this slide for the global use case diagram already prepared in the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AGILE SPRINTS &amp; CONCEPTION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Global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React web client and Expo mobile client.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Sails.js REST API with MongoDB persistence.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Gemini services for embeddings, semantic search, and AI assistance.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AGILE SPRINTS &amp; CONCEPTION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UML by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44200" cy="4526280"/>
          </a:xfrm>
          <a:prstGeom prst="roundRect">
            <a:avLst/>
          </a:prstGeom>
          <a:solidFill>
            <a:srgbClr val="F6FAFC"/>
          </a:solidFill>
          <a:ln>
            <a:solidFill>
              <a:srgbClr val="B4CD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70732"/>
            <a:ext cx="104698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64D7A"/>
                </a:solidFill>
                <a:latin typeface="Aptos"/>
              </a:rPr>
              <a:t>Insert prepared conception diagram / sprint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102412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Keep your five sprint diagrams here or split them visually into five labeled blocks.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AGILE SPRINTS &amp; CONCEPTION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RAG and Intelligent Assistance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4297680"/>
          </a:xfrm>
          <a:prstGeom prst="roundRect">
            <a:avLst/>
          </a:prstGeom>
          <a:solidFill>
            <a:srgbClr val="F6FAFC"/>
          </a:solidFill>
          <a:ln>
            <a:solidFill>
              <a:srgbClr val="B4CD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64992"/>
            <a:ext cx="4892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64D7A"/>
                </a:solidFill>
                <a:latin typeface="Aptos"/>
              </a:rPr>
              <a:t>Insert RAG architecture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516636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632"/>
                </a:solidFill>
                <a:latin typeface="Aptos"/>
              </a:defRPr>
            </a:pPr>
            <a:r>
              <a:t>Product documents and guide content are indexed as searchable knowledge.</a:t>
            </a:r>
          </a:p>
          <a:p>
            <a:pPr>
              <a:spcAft>
                <a:spcPts val="700"/>
              </a:spcAft>
              <a:defRPr sz="1600">
                <a:solidFill>
                  <a:srgbClr val="1C2632"/>
                </a:solidFill>
                <a:latin typeface="Aptos"/>
              </a:defRPr>
            </a:pPr>
            <a:r>
              <a:t>The system retrieves relevant product context before generating assistance.</a:t>
            </a:r>
          </a:p>
          <a:p>
            <a:pPr>
              <a:spcAft>
                <a:spcPts val="700"/>
              </a:spcAft>
              <a:defRPr sz="1600">
                <a:solidFill>
                  <a:srgbClr val="1C2632"/>
                </a:solidFill>
                <a:latin typeface="Aptos"/>
              </a:defRPr>
            </a:pPr>
            <a:r>
              <a:t>Semantic matching improves troubleshooting and component compatibility suggestions.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TECHNICAL REALIZATION &amp;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Technical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Frontend: React, Vite, TypeScript, Redux Toolkit.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Mobile: React Native, Expo, QR scanner.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Backend: Node.js, Sails.js, MongoDB, JWT, Gemini API.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Tools: VS Code, Git, Draw.io, Vercel, Render.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TECHNICAL REALIZATION &amp;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Implemented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Authentication and role-based access control.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Product catalog, guide editor, QR generation, and approval workflow.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Feedback, notifications, analytics, AI search, and technician maintenance requests.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TECHNICAL REALIZATION &amp;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Prototype Demo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389120"/>
          </a:xfrm>
          <a:prstGeom prst="roundRect">
            <a:avLst/>
          </a:prstGeom>
          <a:solidFill>
            <a:srgbClr val="F6FAFC"/>
          </a:solidFill>
          <a:ln>
            <a:solidFill>
              <a:srgbClr val="B4CD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10712"/>
            <a:ext cx="49377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64D7A"/>
                </a:solidFill>
                <a:latin typeface="Aptos"/>
              </a:rPr>
              <a:t>Insert prototype screenshots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6634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Scan QR code.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Open product detail dashboard.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Consult guides, manuals, videos, and feedback.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Use semantic search or AI assistance.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Escalate unresolved issues to a technician.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PRO-WISE centralizes product assistance in a single digital platform.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The project delivers web, mobile, backend, QR, AI, and maintenance workflows.</a:t>
            </a:r>
          </a:p>
          <a:p>
            <a:pPr>
              <a:spcAft>
                <a:spcPts val="700"/>
              </a:spcAft>
              <a:defRPr sz="2000">
                <a:solidFill>
                  <a:srgbClr val="1C2632"/>
                </a:solidFill>
                <a:latin typeface="Aptos"/>
              </a:defRPr>
            </a:pPr>
            <a:r>
              <a:t>The platform reduces support friction for customers and operational load for manufacturers.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Improve mobile offline access for manuals and guides.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Add richer AI moderation and multilingual support.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Enhance analytics dashboards and predictive maintenance.</a:t>
            </a:r>
          </a:p>
          <a:p>
            <a:pPr>
              <a:spcAft>
                <a:spcPts val="700"/>
              </a:spcAft>
              <a:defRPr sz="1700">
                <a:solidFill>
                  <a:srgbClr val="1C2632"/>
                </a:solidFill>
                <a:latin typeface="Aptos"/>
              </a:defRPr>
            </a:pPr>
            <a:r>
              <a:t>Extend integrations with manufacturer ERP/CRM systems.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64D7A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2860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D6C7C"/>
                </a:solidFill>
                <a:latin typeface="Aptos"/>
              </a:rP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2632"/>
                </a:solidFill>
                <a:latin typeface="Aptos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1783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D6C7C"/>
                </a:solidFill>
                <a:latin typeface="Aptos"/>
              </a:rPr>
              <a:t>PRO-WISE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164D7A"/>
                </a:solidFill>
                <a:latin typeface="Aptos"/>
              </a:rPr>
              <a:t>Thank you for your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669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>
                <a:solidFill>
                  <a:srgbClr val="1C2632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